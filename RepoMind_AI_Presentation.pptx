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-416" y="-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822960"/>
            <a:ext cx="4754880" cy="4754880"/>
          </a:xfrm>
          <a:prstGeom prst="ellipse">
            <a:avLst/>
          </a:prstGeom>
          <a:solidFill>
            <a:srgbClr val="4F8EF7">
              <a:alpha val="15000"/>
            </a:srgbClr>
          </a:solidFill>
          <a:ln w="12700">
            <a:solidFill>
              <a:srgbClr val="4F8EF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-365760"/>
            <a:ext cx="3474720" cy="3474720"/>
          </a:xfrm>
          <a:prstGeom prst="ellipse">
            <a:avLst/>
          </a:prstGeom>
          <a:solidFill>
            <a:srgbClr val="6DD5C0">
              <a:alpha val="12000"/>
            </a:srgbClr>
          </a:solidFill>
          <a:ln w="12700">
            <a:solidFill>
              <a:srgbClr val="6DD5C0">
                <a:alpha val="25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14300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RepoMind AI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11480" y="2212848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8BDD6"/>
                </a:solidFill>
              </a:rPr>
              <a:t>A Multi-Agent System for Intelligent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A8BDD6"/>
                </a:solidFill>
              </a:rPr>
              <a:t>Repository Analysis and Task Automation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 flipV="1">
            <a:off x="411480" y="3108960"/>
            <a:ext cx="5915770" cy="457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33375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Anshuman </a:t>
            </a:r>
            <a:r>
              <a:rPr lang="en-US" sz="1300" b="1" dirty="0" err="1">
                <a:solidFill>
                  <a:srgbClr val="FFFFFF"/>
                </a:solidFill>
              </a:rPr>
              <a:t>Sarkar</a:t>
            </a:r>
            <a:r>
              <a:rPr lang="en-US" sz="1300" dirty="0">
                <a:solidFill>
                  <a:srgbClr val="A8BDD6"/>
                </a:solidFill>
              </a:rPr>
              <a:t>  </a:t>
            </a:r>
            <a:r>
              <a:rPr lang="en-US" sz="1300" dirty="0" smtClean="0">
                <a:solidFill>
                  <a:srgbClr val="A8BDD6"/>
                </a:solidFill>
              </a:rPr>
              <a:t>	|  	Roll</a:t>
            </a:r>
            <a:r>
              <a:rPr lang="en-US" sz="1300" dirty="0">
                <a:solidFill>
                  <a:srgbClr val="A8BDD6"/>
                </a:solidFill>
              </a:rPr>
              <a:t>: </a:t>
            </a:r>
            <a:r>
              <a:rPr lang="en-US" sz="1300" dirty="0" smtClean="0">
                <a:solidFill>
                  <a:srgbClr val="A8BDD6"/>
                </a:solidFill>
              </a:rPr>
              <a:t>012/CSC/241002	Reg. No. : 012-1111-0943-21</a:t>
            </a: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Akash </a:t>
            </a:r>
            <a:r>
              <a:rPr lang="en-US" sz="1300" b="1" dirty="0" err="1">
                <a:solidFill>
                  <a:srgbClr val="FFFFFF"/>
                </a:solidFill>
              </a:rPr>
              <a:t>Chakraborty</a:t>
            </a:r>
            <a:r>
              <a:rPr lang="en-US" sz="1300" dirty="0">
                <a:solidFill>
                  <a:srgbClr val="A8BDD6"/>
                </a:solidFill>
              </a:rPr>
              <a:t>  </a:t>
            </a:r>
            <a:r>
              <a:rPr lang="en-US" sz="1300" dirty="0" smtClean="0">
                <a:solidFill>
                  <a:srgbClr val="A8BDD6"/>
                </a:solidFill>
              </a:rPr>
              <a:t>	| 	Roll</a:t>
            </a:r>
            <a:r>
              <a:rPr lang="en-US" sz="1300" dirty="0">
                <a:solidFill>
                  <a:srgbClr val="A8BDD6"/>
                </a:solidFill>
              </a:rPr>
              <a:t>: </a:t>
            </a:r>
            <a:r>
              <a:rPr lang="en-US" sz="1300" dirty="0" smtClean="0">
                <a:solidFill>
                  <a:srgbClr val="A8BDD6"/>
                </a:solidFill>
              </a:rPr>
              <a:t>012/CSC/241001	Reg. No. : 611-1111-0296-21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41605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DD6"/>
                </a:solidFill>
              </a:rPr>
              <a:t>Supervisor: </a:t>
            </a:r>
            <a:r>
              <a:rPr lang="en-US" sz="1200" dirty="0" smtClean="0">
                <a:solidFill>
                  <a:srgbClr val="A8BDD6"/>
                </a:solidFill>
              </a:rPr>
              <a:t>	</a:t>
            </a:r>
            <a:r>
              <a:rPr lang="en-US" sz="1200" b="1" dirty="0" smtClean="0">
                <a:solidFill>
                  <a:srgbClr val="FFFFFF"/>
                </a:solidFill>
              </a:rPr>
              <a:t>Mrs</a:t>
            </a:r>
            <a:r>
              <a:rPr lang="en-US" sz="1200" b="1" dirty="0">
                <a:solidFill>
                  <a:srgbClr val="FFFFFF"/>
                </a:solidFill>
              </a:rPr>
              <a:t>. Shilpa Saha</a:t>
            </a:r>
            <a:r>
              <a:rPr lang="en-US" sz="1200" dirty="0">
                <a:solidFill>
                  <a:srgbClr val="A8BDD6"/>
                </a:solidFill>
              </a:rPr>
              <a:t>  |  Dept. of Computer Science, Asutosh College, University of </a:t>
            </a:r>
            <a:r>
              <a:rPr lang="en-US" sz="1200" dirty="0" smtClean="0">
                <a:solidFill>
                  <a:srgbClr val="A8BDD6"/>
                </a:solidFill>
              </a:rPr>
              <a:t>Calcutta</a:t>
            </a:r>
          </a:p>
        </p:txBody>
      </p:sp>
      <p:sp>
        <p:nvSpPr>
          <p:cNvPr id="10" name="Text 7"/>
          <p:cNvSpPr/>
          <p:nvPr/>
        </p:nvSpPr>
        <p:spPr>
          <a:xfrm>
            <a:off x="411480" y="45720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DD5C0"/>
                </a:solidFill>
              </a:rPr>
              <a:t>M.Sc. in Computer Science  |  2024–2026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2743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1148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316736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1832" y="1069848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D40"/>
                </a:solidFill>
              </a:rPr>
              <a:t>Understanding large codebases takes significant time and effort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0040" y="2258568"/>
            <a:ext cx="41148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261518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1832" y="2368296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D40"/>
                </a:solidFill>
              </a:rPr>
              <a:t>Finding bugs across multiple files is difficult and time-consuming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20040" y="3557016"/>
            <a:ext cx="41148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913632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41832" y="3666744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D40"/>
                </a:solidFill>
              </a:rPr>
              <a:t>Documentation is often missing, outdated, or hard to create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709160" y="960120"/>
            <a:ext cx="41148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1316736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30952" y="1069848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 smtClean="0"/>
              <a:t>Developers need multiple tools to complete development tasks</a:t>
            </a:r>
            <a:r>
              <a:rPr lang="en-US" sz="1250" dirty="0" smtClean="0">
                <a:solidFill>
                  <a:srgbClr val="1E2D40"/>
                </a:solidFill>
              </a:rPr>
              <a:t> </a:t>
            </a:r>
            <a:r>
              <a:rPr lang="en-US" sz="1250" dirty="0">
                <a:solidFill>
                  <a:srgbClr val="1E2D40"/>
                </a:solidFill>
              </a:rPr>
              <a:t>(planning, review, commit) 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709160" y="2258568"/>
            <a:ext cx="41148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2615184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30952" y="2368296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D40"/>
                </a:solidFill>
              </a:rPr>
              <a:t>AI-generated code changes can be unsafe without user approval and rollback support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4709160" y="3557016"/>
            <a:ext cx="41148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3913632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30952" y="3666744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D40"/>
                </a:solidFill>
              </a:rPr>
              <a:t>Existing tools focus on code generation, not repository understanding or architecture analysis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Introduction to RepoMind AI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2743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60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D5C0"/>
                </a:solidFill>
              </a:rPr>
              <a:t>What is RepoMind AI?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1480" y="141732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 repository-aware AI assistant that helps developers understand, analyze, and improve software projects.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Allows importing repositories from GitHub, then automatically scans, indexes, and understands the codebase.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Uses RAG (Retrieval-Augmented Generation) to provide accurate, context-grounded answers.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Features a powerful Architecture Analysis Engine to identify frontend, backend, database, and service components.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Supports safe, approval-based code editing — no changes applied without explicit user consent.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0" y="1005840"/>
            <a:ext cx="1783080" cy="1737360"/>
          </a:xfrm>
          <a:prstGeom prst="roundRect">
            <a:avLst>
              <a:gd name="adj" fmla="val 6316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0" y="1005840"/>
            <a:ext cx="1783080" cy="1737360"/>
          </a:xfrm>
          <a:prstGeom prst="roundRect">
            <a:avLst>
              <a:gd name="adj" fmla="val 6316"/>
            </a:avLst>
          </a:prstGeom>
          <a:solidFill>
            <a:srgbClr val="4F8EF7">
              <a:alpha val="85000"/>
            </a:srgbClr>
          </a:solidFill>
          <a:ln w="12700">
            <a:solidFill>
              <a:srgbClr val="4F8EF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0" y="1417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8+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03520" y="21031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Specialist AI Agents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78040" y="1005840"/>
            <a:ext cx="1783080" cy="1737360"/>
          </a:xfrm>
          <a:prstGeom prst="roundRect">
            <a:avLst>
              <a:gd name="adj" fmla="val 6316"/>
            </a:avLst>
          </a:prstGeom>
          <a:solidFill>
            <a:srgbClr val="6DD5C0"/>
          </a:solidFill>
          <a:ln w="12700">
            <a:solidFill>
              <a:srgbClr val="6DD5C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78040" y="1005840"/>
            <a:ext cx="1783080" cy="1737360"/>
          </a:xfrm>
          <a:prstGeom prst="roundRect">
            <a:avLst>
              <a:gd name="adj" fmla="val 6316"/>
            </a:avLst>
          </a:prstGeom>
          <a:solidFill>
            <a:srgbClr val="6DD5C0">
              <a:alpha val="85000"/>
            </a:srgbClr>
          </a:solidFill>
          <a:ln w="12700">
            <a:solidFill>
              <a:srgbClr val="6DD5C0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78040" y="1417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RAG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178040" y="21031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Retrieval-Augmented Generation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2971800"/>
            <a:ext cx="1783080" cy="1737360"/>
          </a:xfrm>
          <a:prstGeom prst="roundRect">
            <a:avLst>
              <a:gd name="adj" fmla="val 6316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0" y="2971800"/>
            <a:ext cx="1783080" cy="1737360"/>
          </a:xfrm>
          <a:prstGeom prst="roundRect">
            <a:avLst>
              <a:gd name="adj" fmla="val 6316"/>
            </a:avLst>
          </a:prstGeom>
          <a:solidFill>
            <a:srgbClr val="A78BFA">
              <a:alpha val="85000"/>
            </a:srgbClr>
          </a:solidFill>
          <a:ln w="12700">
            <a:solidFill>
              <a:srgbClr val="A78BFA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0" y="33832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34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303520" y="4069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Tests Passed (5.92s)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78040" y="2971800"/>
            <a:ext cx="1783080" cy="1737360"/>
          </a:xfrm>
          <a:prstGeom prst="roundRect">
            <a:avLst>
              <a:gd name="adj" fmla="val 6316"/>
            </a:avLst>
          </a:prstGeom>
          <a:solidFill>
            <a:srgbClr val="6DD5C0"/>
          </a:solidFill>
          <a:ln w="12700">
            <a:solidFill>
              <a:srgbClr val="6DD5C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78040" y="2971800"/>
            <a:ext cx="1783080" cy="1737360"/>
          </a:xfrm>
          <a:prstGeom prst="roundRect">
            <a:avLst>
              <a:gd name="adj" fmla="val 6316"/>
            </a:avLst>
          </a:prstGeom>
          <a:solidFill>
            <a:srgbClr val="F7C86A">
              <a:alpha val="85000"/>
            </a:srgbClr>
          </a:solidFill>
          <a:ln w="12700">
            <a:solidFill>
              <a:srgbClr val="F7C86A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78040" y="33832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100%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178040" y="4069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Approval-Based Editing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2743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124712"/>
            <a:ext cx="512064" cy="512064"/>
          </a:xfrm>
          <a:prstGeom prst="ellipse">
            <a:avLst/>
          </a:prstGeom>
          <a:solidFill>
            <a:srgbClr val="4F8EF7">
              <a:alpha val="85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1247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6424" y="11247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</a:rPr>
              <a:t>Context-Aware Automation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64592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smtClean="0"/>
              <a:t>Bridge user requests with repository knowledge using semantic search and vector indexing.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1124712"/>
            <a:ext cx="512064" cy="512064"/>
          </a:xfrm>
          <a:prstGeom prst="ellipse">
            <a:avLst/>
          </a:prstGeom>
          <a:solidFill>
            <a:srgbClr val="6DD5C0">
              <a:alpha val="85000"/>
            </a:srgbClr>
          </a:solidFill>
          <a:ln w="12700">
            <a:solidFill>
              <a:srgbClr val="6DD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1247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95544" y="11247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</a:rPr>
              <a:t>Deterministic-First Reliability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3752" y="164592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smtClean="0"/>
              <a:t>Perform syntax and structure checks before using the LLM to improve reliability and reduce API costs.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" y="3136392"/>
            <a:ext cx="512064" cy="512064"/>
          </a:xfrm>
          <a:prstGeom prst="ellipse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1363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06424" y="31363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</a:rPr>
              <a:t>Human-in-the-Loop Security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" y="365760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40"/>
                </a:solidFill>
              </a:rPr>
              <a:t>Enforce user approval for all critical file modifications through controlled workflows with diff previews and rollback support.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3136392"/>
            <a:ext cx="512064" cy="512064"/>
          </a:xfrm>
          <a:prstGeom prst="ellipse">
            <a:avLst/>
          </a:prstGeom>
          <a:solidFill>
            <a:srgbClr val="F7C86A">
              <a:alpha val="85000"/>
            </a:srgbClr>
          </a:solidFill>
          <a:ln w="12700">
            <a:solidFill>
              <a:srgbClr val="F7C8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31363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95544" y="31363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</a:rPr>
              <a:t>Repository Understanding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73752" y="365760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40"/>
                </a:solidFill>
              </a:rPr>
              <a:t>Automatically analyze and explain repository architecture, modules, dependencies, and component relationships to accelerate onboarding.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Existing Technologies vs RepoMind AI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2743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320040" y="914400"/>
          <a:ext cx="8641080" cy="3621024"/>
        </p:xfrm>
        <a:graphic>
          <a:graphicData uri="http://schemas.openxmlformats.org/drawingml/2006/table">
            <a:tbl>
              <a:tblPr/>
              <a:tblGrid>
                <a:gridCol w="2103120"/>
                <a:gridCol w="1463040"/>
                <a:gridCol w="1783080"/>
                <a:gridCol w="1828800"/>
                <a:gridCol w="1463040"/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/ Tabby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SWE-bench / OpenHands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 / Cursor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RepoMind 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E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Repo-aware Chat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6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5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5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5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Explanation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5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5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Investigation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5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6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5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5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5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Approval-Based Editing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5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5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RAG-Based Answers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5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5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Summarization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5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5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5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Planning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A5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5A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Technology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2743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E8F8FE"/>
          </a:solidFill>
          <a:ln w="12700">
            <a:solidFill>
              <a:srgbClr val="E8F8FE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61DAFB">
              <a:alpha val="90000"/>
            </a:srgbClr>
          </a:solidFill>
          <a:ln w="12700">
            <a:solidFill>
              <a:srgbClr val="61DAF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02412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" y="1005840"/>
            <a:ext cx="1335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" y="182880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40"/>
                </a:solidFill>
              </a:rPr>
              <a:t>Next.js (React Framework)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" y="2002536"/>
            <a:ext cx="73152" cy="73152"/>
          </a:xfrm>
          <a:prstGeom prst="ellipse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" y="240487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40"/>
                </a:solidFill>
              </a:rPr>
              <a:t>TypeScript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" y="2578608"/>
            <a:ext cx="73152" cy="73152"/>
          </a:xfrm>
          <a:prstGeom prst="ellipse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" y="298094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40"/>
                </a:solidFill>
              </a:rPr>
              <a:t>Tailwind CSS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9768" y="3154680"/>
            <a:ext cx="73152" cy="73152"/>
          </a:xfrm>
          <a:prstGeom prst="ellipse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68880" y="960120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EBF1FD"/>
          </a:solidFill>
          <a:ln w="12700">
            <a:solidFill>
              <a:srgbClr val="EBF1FD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68880" y="96012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4F8EF7">
              <a:alpha val="90000"/>
            </a:srgbClr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2" y="1024128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35808" y="1005840"/>
            <a:ext cx="1335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670048" y="182880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40"/>
                </a:solidFill>
              </a:rPr>
              <a:t>FastAPI (Python)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2578608" y="2002536"/>
            <a:ext cx="73152" cy="7315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670048" y="240487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40"/>
                </a:solidFill>
              </a:rPr>
              <a:t>Python 3.11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2578608" y="2578608"/>
            <a:ext cx="73152" cy="7315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670048" y="298094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40"/>
                </a:solidFill>
              </a:rPr>
              <a:t>GitPython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2578608" y="3154680"/>
            <a:ext cx="73152" cy="7315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670048" y="3557016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40"/>
                </a:solidFill>
              </a:rPr>
              <a:t>REST APIs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2578608" y="3730752"/>
            <a:ext cx="73152" cy="7315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617720" y="960120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E8FAF6"/>
          </a:solidFill>
          <a:ln w="12700">
            <a:solidFill>
              <a:srgbClr val="E8FAF6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617720" y="96012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6DD5C0">
              <a:alpha val="90000"/>
            </a:srgbClr>
          </a:solidFill>
          <a:ln w="12700">
            <a:solidFill>
              <a:srgbClr val="6DD5C0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1024128"/>
            <a:ext cx="384048" cy="38404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184648" y="1005840"/>
            <a:ext cx="1335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 &amp; Storage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4818888" y="182880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40"/>
                </a:solidFill>
              </a:rPr>
              <a:t>MongoDB (App State)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4727448" y="2002536"/>
            <a:ext cx="73152" cy="73152"/>
          </a:xfrm>
          <a:prstGeom prst="ellipse">
            <a:avLst/>
          </a:prstGeom>
          <a:solidFill>
            <a:srgbClr val="6DD5C0"/>
          </a:solidFill>
          <a:ln w="12700">
            <a:solidFill>
              <a:srgbClr val="6DD5C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818888" y="240487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40"/>
                </a:solidFill>
              </a:rPr>
              <a:t>ChromaDB (Vector Store)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4727448" y="2578608"/>
            <a:ext cx="73152" cy="73152"/>
          </a:xfrm>
          <a:prstGeom prst="ellipse">
            <a:avLst/>
          </a:prstGeom>
          <a:solidFill>
            <a:srgbClr val="6DD5C0"/>
          </a:solidFill>
          <a:ln w="12700">
            <a:solidFill>
              <a:srgbClr val="6DD5C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818888" y="298094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40"/>
                </a:solidFill>
              </a:rPr>
              <a:t>Local Git Repos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4727448" y="3154680"/>
            <a:ext cx="73152" cy="73152"/>
          </a:xfrm>
          <a:prstGeom prst="ellipse">
            <a:avLst/>
          </a:prstGeom>
          <a:solidFill>
            <a:srgbClr val="6DD5C0"/>
          </a:solidFill>
          <a:ln w="12700">
            <a:solidFill>
              <a:srgbClr val="6DD5C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766560" y="960120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F3EFFF"/>
          </a:solidFill>
          <a:ln w="12700">
            <a:solidFill>
              <a:srgbClr val="F3EFFF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6766560" y="96012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A78BFA">
              <a:alpha val="90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152" y="1024128"/>
            <a:ext cx="384048" cy="38404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333488" y="1005840"/>
            <a:ext cx="1335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&amp; Intelligence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6967728" y="1828800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40"/>
                </a:solidFill>
              </a:rPr>
              <a:t>LangChain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6876288" y="2002536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967728" y="240487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40"/>
                </a:solidFill>
              </a:rPr>
              <a:t>Ollama / Llama 3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6876288" y="2578608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6967728" y="298094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40"/>
                </a:solidFill>
              </a:rPr>
              <a:t>Gemini API</a:t>
            </a:r>
            <a:endParaRPr lang="en-US" sz="1150" dirty="0"/>
          </a:p>
        </p:txBody>
      </p:sp>
      <p:sp>
        <p:nvSpPr>
          <p:cNvPr id="45" name="Shape 39"/>
          <p:cNvSpPr/>
          <p:nvPr/>
        </p:nvSpPr>
        <p:spPr>
          <a:xfrm>
            <a:off x="6876288" y="3154680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6967728" y="3557016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40"/>
                </a:solidFill>
              </a:rPr>
              <a:t>Groq API</a:t>
            </a:r>
            <a:endParaRPr lang="en-US" sz="1150" dirty="0"/>
          </a:p>
        </p:txBody>
      </p:sp>
      <p:sp>
        <p:nvSpPr>
          <p:cNvPr id="47" name="Shape 41"/>
          <p:cNvSpPr/>
          <p:nvPr/>
        </p:nvSpPr>
        <p:spPr>
          <a:xfrm>
            <a:off x="6876288" y="3730752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6967728" y="413308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D40"/>
                </a:solidFill>
              </a:rPr>
              <a:t>nomic-embed-text</a:t>
            </a:r>
            <a:endParaRPr lang="en-US" sz="1150" dirty="0"/>
          </a:p>
        </p:txBody>
      </p:sp>
      <p:sp>
        <p:nvSpPr>
          <p:cNvPr id="49" name="Shape 43"/>
          <p:cNvSpPr/>
          <p:nvPr/>
        </p:nvSpPr>
        <p:spPr>
          <a:xfrm>
            <a:off x="6876288" y="4306824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Methodology &amp; System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2743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9848" y="1097280"/>
            <a:ext cx="512064" cy="512064"/>
          </a:xfrm>
          <a:prstGeom prst="ellipse">
            <a:avLst/>
          </a:prstGeom>
          <a:solidFill>
            <a:srgbClr val="4F8EF7">
              <a:alpha val="9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097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" y="170992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Import Repository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2167128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090"/>
                </a:solidFill>
              </a:rPr>
              <a:t>GitHub URL or file upload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31720" y="1856232"/>
            <a:ext cx="137160" cy="0"/>
          </a:xfrm>
          <a:prstGeom prst="line">
            <a:avLst/>
          </a:prstGeom>
          <a:noFill/>
          <a:ln w="25400">
            <a:solidFill>
              <a:srgbClr val="4F8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96012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097280"/>
            <a:ext cx="512064" cy="512064"/>
          </a:xfrm>
          <a:prstGeom prst="ellipse">
            <a:avLst/>
          </a:prstGeom>
          <a:solidFill>
            <a:srgbClr val="6DD5C0">
              <a:alpha val="90000"/>
            </a:srgbClr>
          </a:solidFill>
          <a:ln w="12700">
            <a:solidFill>
              <a:srgbClr val="6DD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097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78608" y="170992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Scan &amp; Filter Files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78608" y="2167128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090"/>
                </a:solidFill>
              </a:rPr>
              <a:t>Ignore .git, node_modules, binaries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1856232"/>
            <a:ext cx="137160" cy="0"/>
          </a:xfrm>
          <a:prstGeom prst="line">
            <a:avLst/>
          </a:prstGeom>
          <a:noFill/>
          <a:ln w="25400">
            <a:solidFill>
              <a:srgbClr val="6DD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96012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67528" y="1097280"/>
            <a:ext cx="512064" cy="512064"/>
          </a:xfrm>
          <a:prstGeom prst="ellipse">
            <a:avLst/>
          </a:prstGeom>
          <a:solidFill>
            <a:srgbClr val="A78BFA">
              <a:alpha val="9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67528" y="1097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27448" y="170992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Code Chunking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27448" y="2167128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090"/>
                </a:solidFill>
              </a:rPr>
              <a:t>Split into ~30-line semantic chunks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29400" y="1856232"/>
            <a:ext cx="13716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96012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16368" y="1097280"/>
            <a:ext cx="512064" cy="512064"/>
          </a:xfrm>
          <a:prstGeom prst="ellipse">
            <a:avLst/>
          </a:prstGeom>
          <a:solidFill>
            <a:srgbClr val="F7C86A">
              <a:alpha val="90000"/>
            </a:srgbClr>
          </a:solidFill>
          <a:ln w="12700">
            <a:solidFill>
              <a:srgbClr val="F7C8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16368" y="1097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76288" y="170992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Embed &amp; Index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76288" y="2167128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090"/>
                </a:solidFill>
              </a:rPr>
              <a:t>384-dim vectors → ChromaDB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297180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69848" y="3108960"/>
            <a:ext cx="512064" cy="512064"/>
          </a:xfrm>
          <a:prstGeom prst="ellipse">
            <a:avLst/>
          </a:prstGeom>
          <a:solidFill>
            <a:srgbClr val="F07070">
              <a:alpha val="90000"/>
            </a:srgbClr>
          </a:solidFill>
          <a:ln w="12700">
            <a:solidFill>
              <a:srgbClr val="F070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" y="3108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29768" y="372160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User Query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9768" y="4178808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090"/>
                </a:solidFill>
              </a:rPr>
              <a:t>Chat interface → intent routing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31720" y="3867912"/>
            <a:ext cx="137160" cy="0"/>
          </a:xfrm>
          <a:prstGeom prst="line">
            <a:avLst/>
          </a:prstGeom>
          <a:noFill/>
          <a:ln w="25400">
            <a:solidFill>
              <a:srgbClr val="F070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68880" y="297180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18688" y="3108960"/>
            <a:ext cx="512064" cy="512064"/>
          </a:xfrm>
          <a:prstGeom prst="ellipse">
            <a:avLst/>
          </a:prstGeom>
          <a:solidFill>
            <a:srgbClr val="4F8EF7">
              <a:alpha val="9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18688" y="3108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578608" y="372160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RAG Retrieval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578608" y="4178808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090"/>
                </a:solidFill>
              </a:rPr>
              <a:t>Semantic search: top-k chunks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480560" y="3867912"/>
            <a:ext cx="137160" cy="0"/>
          </a:xfrm>
          <a:prstGeom prst="line">
            <a:avLst/>
          </a:prstGeom>
          <a:noFill/>
          <a:ln w="25400">
            <a:solidFill>
              <a:srgbClr val="4F8E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17720" y="297180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367528" y="3108960"/>
            <a:ext cx="512064" cy="512064"/>
          </a:xfrm>
          <a:prstGeom prst="ellipse">
            <a:avLst/>
          </a:prstGeom>
          <a:solidFill>
            <a:srgbClr val="6DD5C0">
              <a:alpha val="90000"/>
            </a:srgbClr>
          </a:solidFill>
          <a:ln w="12700">
            <a:solidFill>
              <a:srgbClr val="6DD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67528" y="3108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727448" y="372160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LLM Generates Answer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27448" y="4178808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090"/>
                </a:solidFill>
              </a:rPr>
              <a:t>Context-grounded response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629400" y="3867912"/>
            <a:ext cx="137160" cy="0"/>
          </a:xfrm>
          <a:prstGeom prst="line">
            <a:avLst/>
          </a:prstGeom>
          <a:noFill/>
          <a:ln w="25400">
            <a:solidFill>
              <a:srgbClr val="6DD5C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66560" y="297180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516368" y="3108960"/>
            <a:ext cx="512064" cy="512064"/>
          </a:xfrm>
          <a:prstGeom prst="ellipse">
            <a:avLst/>
          </a:prstGeom>
          <a:solidFill>
            <a:srgbClr val="A78BFA">
              <a:alpha val="9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16368" y="3108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76288" y="372160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Approve &amp; Apply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76288" y="4178808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090"/>
                </a:solidFill>
              </a:rPr>
              <a:t>Diff preview → user approval → Git commit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 Concepts &amp; Technologies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2743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74320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48056" y="1097280"/>
            <a:ext cx="502920" cy="502920"/>
          </a:xfrm>
          <a:prstGeom prst="ellipse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1430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</a:rPr>
              <a:t>Large Language Models (LLMs)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48056" y="167335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</a:rPr>
              <a:t>Groq (Llama-3-8B-Instant), Gemini-1.5-Flash, Ollama Llama 3 used to generate context-aware text responses.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0" y="960120"/>
            <a:ext cx="274320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28416" y="1097280"/>
            <a:ext cx="502920" cy="502920"/>
          </a:xfrm>
          <a:prstGeom prst="ellipse">
            <a:avLst/>
          </a:prstGeom>
          <a:solidFill>
            <a:srgbClr val="4F8EF7">
              <a:alpha val="85000"/>
            </a:srgbClr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14300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13632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</a:rPr>
              <a:t>Retrieval-Augmented Generation (RAG)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328416" y="167335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</a:rPr>
              <a:t>Code is indexed into a vector DB. Before any LLM call, relevant chunks are retrieved and included as context.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0760" y="960120"/>
            <a:ext cx="274320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08776" y="1097280"/>
            <a:ext cx="502920" cy="502920"/>
          </a:xfrm>
          <a:prstGeom prst="ellipse">
            <a:avLst/>
          </a:prstGeom>
          <a:solidFill>
            <a:srgbClr val="6DD5C0">
              <a:alpha val="85000"/>
            </a:srgbClr>
          </a:solidFill>
          <a:ln w="12700">
            <a:solidFill>
              <a:srgbClr val="6DD5C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14300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93992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</a:rPr>
              <a:t>Multi-Agent Architecture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208776" y="167335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</a:rPr>
              <a:t>8 specialist agents (Planner, Bug Investigator, Reviewer, Navigator, Commit Assistant, Architecture, Documentation, RAG) each handle a specific task.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0040" y="2880360"/>
            <a:ext cx="274320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48056" y="3017520"/>
            <a:ext cx="502920" cy="502920"/>
          </a:xfrm>
          <a:prstGeom prst="ellipse">
            <a:avLst/>
          </a:prstGeom>
          <a:solidFill>
            <a:srgbClr val="F7C86A">
              <a:alpha val="85000"/>
            </a:srgbClr>
          </a:solidFill>
          <a:ln w="12700">
            <a:solidFill>
              <a:srgbClr val="F7C86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306324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33272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</a:rPr>
              <a:t>Vector Embeddings &amp; ChromaDB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48056" y="359359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</a:rPr>
              <a:t>Code chunks converted to 384-dimensional vectors using SHA-256 hash or nomic-embed-text. Stored in ChromaDB for cosine similarity search.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00400" y="2880360"/>
            <a:ext cx="274320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28416" y="3017520"/>
            <a:ext cx="502920" cy="502920"/>
          </a:xfrm>
          <a:prstGeom prst="ellipse">
            <a:avLst/>
          </a:prstGeom>
          <a:solidFill>
            <a:srgbClr val="F07070">
              <a:alpha val="85000"/>
            </a:srgbClr>
          </a:solidFill>
          <a:ln w="12700">
            <a:solidFill>
              <a:srgbClr val="F07070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06324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13632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</a:rPr>
              <a:t>Deterministic Static Analysis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328416" y="359359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</a:rPr>
              <a:t>Before LLM calls, the system runs syntax checks (Python compile, JSON/TOML parse, bracket stack, JS casing) to catch bugs reliably.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80760" y="2880360"/>
            <a:ext cx="274320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08776" y="3017520"/>
            <a:ext cx="502920" cy="502920"/>
          </a:xfrm>
          <a:prstGeom prst="ellipse">
            <a:avLst/>
          </a:prstGeom>
          <a:solidFill>
            <a:srgbClr val="6DD5C0">
              <a:alpha val="85000"/>
            </a:srgbClr>
          </a:solidFill>
          <a:ln w="12700">
            <a:solidFill>
              <a:srgbClr val="6DD5C0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3063240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93992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</a:rPr>
              <a:t>Intent Routing &amp; NLP Parsing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208776" y="359359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</a:rPr>
              <a:t>route_chat_agent() parses multilingual keywords and regex patterns to route each query to the correct specialist agent.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2743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67912" y="96012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67912" y="9601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User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0" y="1463040"/>
            <a:ext cx="0" cy="228600"/>
          </a:xfrm>
          <a:prstGeom prst="line">
            <a:avLst/>
          </a:prstGeom>
          <a:noFill/>
          <a:ln w="1905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67912" y="169164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67912" y="16916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Next.js Frontend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2194560"/>
            <a:ext cx="0" cy="2286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67912" y="242316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67912" y="24231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FastAPI Backend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67912" y="2670048"/>
            <a:ext cx="0" cy="576072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926080"/>
            <a:ext cx="0" cy="32004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85232" y="2670048"/>
            <a:ext cx="1298448" cy="576072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324612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32461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MongoDB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App Database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867912" y="324612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67912" y="32461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ChromaDB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Vector Store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97880" y="324612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97880" y="32461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LLM &amp; Embedding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Provider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371600" y="299923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8BDD6"/>
                </a:solidFill>
              </a:rPr>
              <a:t>stores metadata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49040" y="3063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8BDD6"/>
                </a:solidFill>
              </a:rPr>
              <a:t>vector search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299923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8BDD6"/>
                </a:solidFill>
              </a:rPr>
              <a:t>AI inference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960120"/>
            <a:ext cx="2651760" cy="713232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</a:rPr>
              <a:t>Frontend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090"/>
                </a:solidFill>
              </a:rPr>
              <a:t>Next.js + TypeScript + Tailwind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1764792"/>
            <a:ext cx="2651760" cy="713232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18105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</a:rPr>
              <a:t>Backend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20848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090"/>
                </a:solidFill>
              </a:rPr>
              <a:t>FastAPI + Python + GitPython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2569464"/>
            <a:ext cx="2651760" cy="713232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26151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</a:rPr>
              <a:t>AI Layer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28895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090"/>
                </a:solidFill>
              </a:rPr>
              <a:t>Ollama / Gemini / Groq + LangChain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3374136"/>
            <a:ext cx="2651760" cy="713232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34198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</a:rPr>
              <a:t>Storage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36941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090"/>
                </a:solidFill>
              </a:rPr>
              <a:t>MongoDB + ChromaDB + Local FS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0040" y="440740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DD5C0"/>
                </a:solidFill>
              </a:rPr>
              <a:t>Decoupled &amp; modular — swap LLM providers or vector databases with zero architectural changes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Core Implementation – Part 1: Planner Agent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2743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DD5C0"/>
                </a:solidFill>
              </a:rPr>
              <a:t>Role: Analyzes natural language requests, gathers codebase evidence, and produces structured change plans before touching any file.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600200" cy="3383280"/>
          </a:xfrm>
          <a:prstGeom prst="roundRect">
            <a:avLst>
              <a:gd name="adj" fmla="val 5714"/>
            </a:avLst>
          </a:prstGeom>
          <a:solidFill>
            <a:srgbClr val="4F8EF7">
              <a:alpha val="12000"/>
            </a:srgbClr>
          </a:solidFill>
          <a:ln w="19050">
            <a:solidFill>
              <a:srgbClr val="4F8EF7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627632"/>
            <a:ext cx="502920" cy="502920"/>
          </a:xfrm>
          <a:prstGeom prst="ellipse">
            <a:avLst/>
          </a:prstGeom>
          <a:solidFill>
            <a:srgbClr val="4F8EF7">
              <a:alpha val="9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24942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Intent Parsing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761488"/>
            <a:ext cx="1417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Regex extracts action (create/edit/delete), file path, and instruction from prompt.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20240" y="3154680"/>
            <a:ext cx="100584" cy="0"/>
          </a:xfrm>
          <a:prstGeom prst="line">
            <a:avLst/>
          </a:prstGeom>
          <a:noFill/>
          <a:ln w="25400">
            <a:solidFill>
              <a:srgbClr val="4F8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0824" y="1463040"/>
            <a:ext cx="1600200" cy="3383280"/>
          </a:xfrm>
          <a:prstGeom prst="roundRect">
            <a:avLst>
              <a:gd name="adj" fmla="val 5714"/>
            </a:avLst>
          </a:prstGeom>
          <a:solidFill>
            <a:srgbClr val="6DD5C0">
              <a:alpha val="12000"/>
            </a:srgbClr>
          </a:solidFill>
          <a:ln w="19050">
            <a:solidFill>
              <a:srgbClr val="6DD5C0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9464" y="1627632"/>
            <a:ext cx="502920" cy="502920"/>
          </a:xfrm>
          <a:prstGeom prst="ellipse">
            <a:avLst/>
          </a:prstGeom>
          <a:solidFill>
            <a:srgbClr val="6DD5C0">
              <a:alpha val="90000"/>
            </a:srgbClr>
          </a:solidFill>
          <a:ln w="12700">
            <a:solidFill>
              <a:srgbClr val="6DD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9464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12264" y="224942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Evidence Gathering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12264" y="2761488"/>
            <a:ext cx="1417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6 semantic vector chunks + keyword matches + direct file reads (if &lt; 180 lines).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21024" y="3154680"/>
            <a:ext cx="100584" cy="0"/>
          </a:xfrm>
          <a:prstGeom prst="line">
            <a:avLst/>
          </a:prstGeom>
          <a:noFill/>
          <a:ln w="25400">
            <a:solidFill>
              <a:srgbClr val="6DD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21608" y="1463040"/>
            <a:ext cx="1600200" cy="3383280"/>
          </a:xfrm>
          <a:prstGeom prst="roundRect">
            <a:avLst>
              <a:gd name="adj" fmla="val 5714"/>
            </a:avLst>
          </a:prstGeom>
          <a:solidFill>
            <a:srgbClr val="A78BFA">
              <a:alpha val="12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70248" y="1627632"/>
            <a:ext cx="502920" cy="502920"/>
          </a:xfrm>
          <a:prstGeom prst="ellipse">
            <a:avLst/>
          </a:prstGeom>
          <a:solidFill>
            <a:srgbClr val="A78BFA">
              <a:alpha val="9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0248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13048" y="224942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Deduplication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13048" y="2761488"/>
            <a:ext cx="1417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Merges all sources, removes overlaps, caps at 20 chunks to fit LLM context window.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21808" y="3154680"/>
            <a:ext cx="100584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22392" y="1463040"/>
            <a:ext cx="1600200" cy="3383280"/>
          </a:xfrm>
          <a:prstGeom prst="roundRect">
            <a:avLst>
              <a:gd name="adj" fmla="val 5714"/>
            </a:avLst>
          </a:prstGeom>
          <a:solidFill>
            <a:srgbClr val="F7C86A">
              <a:alpha val="12000"/>
            </a:srgbClr>
          </a:solidFill>
          <a:ln w="19050">
            <a:solidFill>
              <a:srgbClr val="F7C86A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71032" y="1627632"/>
            <a:ext cx="502920" cy="502920"/>
          </a:xfrm>
          <a:prstGeom prst="ellipse">
            <a:avLst/>
          </a:prstGeom>
          <a:solidFill>
            <a:srgbClr val="F7C86A">
              <a:alpha val="90000"/>
            </a:srgbClr>
          </a:solidFill>
          <a:ln w="12700">
            <a:solidFill>
              <a:srgbClr val="F7C8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71032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13832" y="224942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Rewrite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13832" y="2761488"/>
            <a:ext cx="1417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Instructs LLM to return full updated file content. Rule-based fallback if LLM fails.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22592" y="3154680"/>
            <a:ext cx="100584" cy="0"/>
          </a:xfrm>
          <a:prstGeom prst="line">
            <a:avLst/>
          </a:prstGeom>
          <a:noFill/>
          <a:ln w="25400">
            <a:solidFill>
              <a:srgbClr val="F7C8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23176" y="1463040"/>
            <a:ext cx="1600200" cy="3383280"/>
          </a:xfrm>
          <a:prstGeom prst="roundRect">
            <a:avLst>
              <a:gd name="adj" fmla="val 5714"/>
            </a:avLst>
          </a:prstGeom>
          <a:solidFill>
            <a:srgbClr val="F07070">
              <a:alpha val="12000"/>
            </a:srgbClr>
          </a:solidFill>
          <a:ln w="19050">
            <a:solidFill>
              <a:srgbClr val="F07070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71816" y="1627632"/>
            <a:ext cx="502920" cy="502920"/>
          </a:xfrm>
          <a:prstGeom prst="ellipse">
            <a:avLst/>
          </a:prstGeom>
          <a:solidFill>
            <a:srgbClr val="F07070">
              <a:alpha val="90000"/>
            </a:srgbClr>
          </a:solidFill>
          <a:ln w="12700">
            <a:solidFill>
              <a:srgbClr val="F070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71816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14616" y="224942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Approval Gate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14616" y="2761488"/>
            <a:ext cx="1417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Shows diff preview → user must click Approve before any file is modified on disk.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Core Implementation – Part 2: Bug Investigation Agent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2743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DD5C0"/>
                </a:solidFill>
              </a:rPr>
              <a:t>Role: Diagnoses compilation and logic bugs using deterministic static rules before querying the LLM.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File Priority Scanning (up to 120 files):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11480" y="1783080"/>
          <a:ext cx="384048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E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Highest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.py  .js  .tsx  .html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.json  .toml  .yml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.css  .scss  .sql  .sh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– Lowest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.md  .txt  .log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Static Diagnostic Rules: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1051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92040" y="1801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Python: compile() syntax check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9456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92040" y="21854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JSON/TOML: parse validation</a:t>
            </a:r>
            <a:endParaRPr lang="en-US" sz="1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578608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92040" y="25694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Delimiter stack bracket checker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962656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92040" y="29535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JS casing: math.floor → Math.floor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46704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892040" y="3337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HTML onclick cross-reference validation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320040" y="3749040"/>
            <a:ext cx="8503920" cy="1097280"/>
          </a:xfrm>
          <a:prstGeom prst="roundRect">
            <a:avLst>
              <a:gd name="adj" fmla="val 10000"/>
            </a:avLst>
          </a:prstGeom>
          <a:solidFill>
            <a:srgbClr val="162235"/>
          </a:solidFill>
          <a:ln w="12700">
            <a:solidFill>
              <a:srgbClr val="16223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1"/>
          <p:cNvSpPr/>
          <p:nvPr/>
        </p:nvSpPr>
        <p:spPr>
          <a:xfrm>
            <a:off x="502920" y="3886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DD5C0"/>
                </a:solidFill>
              </a:rPr>
              <a:t>Flow: Bug Request → Prioritized File Scan → Static Analysis → Compile Issues → LLM Synthesis → Problem / Evidence / Fix Response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Core Implementation – Part 3: Review &amp; Commit Agents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2743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114800" cy="3977640"/>
          </a:xfrm>
          <a:prstGeom prst="roundRect">
            <a:avLst>
              <a:gd name="adj" fmla="val 275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875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8EF7"/>
                </a:solidFill>
              </a:rPr>
              <a:t>Review 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80"/>
                </a:solidFill>
              </a:rPr>
              <a:t>Analyses unstaged Git changes to catch issues before commit.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4708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Extracts tracked changes via repo.git.diff()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22677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Generates unified diff for untracked files vs /dev/null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2491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" y="27066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Scans added lines (+) for merge conflict markers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63824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4672" y="31455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Detects console.log, empty try-catch, bad callbacks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02736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04672" y="35844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Parses package.json / pyproject.toml to suggest test commands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41648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04672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Merges static findings with LLM analysis → Review Report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4709160" y="914400"/>
            <a:ext cx="4114800" cy="3977640"/>
          </a:xfrm>
          <a:prstGeom prst="roundRect">
            <a:avLst>
              <a:gd name="adj" fmla="val 275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2"/>
          <p:cNvSpPr/>
          <p:nvPr/>
        </p:nvSpPr>
        <p:spPr>
          <a:xfrm>
            <a:off x="4846320" y="9875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D5C0"/>
                </a:solidFill>
              </a:rPr>
              <a:t>Commit Assistant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484632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80"/>
                </a:solidFill>
              </a:rPr>
              <a:t>Auto-generates commit messages, stages changes, and pushes to remote.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847088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6636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Validates write access &amp; GitHub token from MongoDB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286000"/>
            <a:ext cx="228600" cy="228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166360" y="22677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Stages all files: repo.git.add('-A')</a:t>
            </a:r>
            <a:endParaRPr lang="en-US" sz="11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724912"/>
            <a:ext cx="228600" cy="2286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66360" y="27066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Creates local commit: repo.index.commit(message)</a:t>
            </a:r>
            <a:endParaRPr lang="en-US" sz="11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3163824"/>
            <a:ext cx="228600" cy="2286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166360" y="31455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Injects OAuth token into remote URL dynamically</a:t>
            </a:r>
            <a:endParaRPr lang="en-US" sz="11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3602736"/>
            <a:ext cx="228600" cy="22860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166360" y="35844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Pushes to remote, then restores original URL</a:t>
            </a:r>
            <a:endParaRPr lang="en-US" sz="11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4041648"/>
            <a:ext cx="228600" cy="22860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16636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Sanitizes error logs — tokens replaced with [redacted]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Core Implementation – Part 4: Architecture &amp; Navigator Agents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2743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114800" cy="3977640"/>
          </a:xfrm>
          <a:prstGeom prst="roundRect">
            <a:avLst>
              <a:gd name="adj" fmla="val 275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875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Architecture 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80"/>
                </a:solidFill>
              </a:rPr>
              <a:t>Opens an interactive visual map of the repository — no LLM call needed.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4708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Triggered by keywords: architecture, diagram, ERD, folder structure + view/show/open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22677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Exclusion check: skips if add/edit/create/modify terms present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2491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" y="27066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Returns static routing message — bypasses LLM entirely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63824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4672" y="31455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Sets suggested_workspace_mode → 'architecture'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02736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04672" y="35844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Frontend auto-switches to interactive node-based Architecture Workspace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41648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04672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Layers: Overview → Frontend → Backend → Data-Oriented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4709160" y="914400"/>
            <a:ext cx="4114800" cy="3977640"/>
          </a:xfrm>
          <a:prstGeom prst="roundRect">
            <a:avLst>
              <a:gd name="adj" fmla="val 275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2"/>
          <p:cNvSpPr/>
          <p:nvPr/>
        </p:nvSpPr>
        <p:spPr>
          <a:xfrm>
            <a:off x="4846320" y="9875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8EF7"/>
                </a:solidFill>
              </a:rPr>
              <a:t>Navigator Agent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484632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80"/>
                </a:solidFill>
              </a:rPr>
              <a:t>Helps locate files, symbols, routes, and configurations in large codebases.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847088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6636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1. Token Extraction: query → meaningful search tokens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286000"/>
            <a:ext cx="228600" cy="228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166360" y="22677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2. Symbol Lookup: searches index for classes, functions, variables, filenames</a:t>
            </a:r>
            <a:endParaRPr lang="en-US" sz="11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724912"/>
            <a:ext cx="228600" cy="2286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66360" y="27066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3. Semantic Context Matching: embedding vector compared to indexed chunks</a:t>
            </a:r>
            <a:endParaRPr lang="en-US" sz="11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163824"/>
            <a:ext cx="228600" cy="2286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166360" y="31455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4. Response Construction: organized result with file refs + line numbers</a:t>
            </a:r>
            <a:endParaRPr lang="en-US" sz="11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602736"/>
            <a:ext cx="228600" cy="22860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166360" y="35844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Response capped at 180 words for conciseness</a:t>
            </a:r>
            <a:endParaRPr lang="en-US" sz="11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4041648"/>
            <a:ext cx="228600" cy="22860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16636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Works across all programming languages indexed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Multi-Agent Workflow &amp; Decision Routing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2743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0440" y="1874520"/>
            <a:ext cx="2103120" cy="822960"/>
          </a:xfrm>
          <a:prstGeom prst="ellipse">
            <a:avLst/>
          </a:prstGeom>
          <a:solidFill>
            <a:srgbClr val="4F8EF7">
              <a:alpha val="90000"/>
            </a:srgbClr>
          </a:solidFill>
          <a:ln w="25400">
            <a:solidFill>
              <a:srgbClr val="4F8EF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20440" y="18745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route_chat_agent()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Orchestrator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0" y="960120"/>
            <a:ext cx="1828800" cy="594360"/>
          </a:xfrm>
          <a:prstGeom prst="roundRect">
            <a:avLst>
              <a:gd name="adj" fmla="val 15385"/>
            </a:avLst>
          </a:prstGeom>
          <a:solidFill>
            <a:srgbClr val="6DD5C0">
              <a:alpha val="95000"/>
            </a:srgbClr>
          </a:solidFill>
          <a:ln w="12700">
            <a:solidFill>
              <a:srgbClr val="6DD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960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User Prompt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0" cy="320040"/>
          </a:xfrm>
          <a:prstGeom prst="line">
            <a:avLst/>
          </a:prstGeom>
          <a:noFill/>
          <a:ln w="25400">
            <a:solidFill>
              <a:srgbClr val="6DD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0312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21488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54203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DDEE"/>
                </a:solidFill>
              </a:rPr>
              <a:t>add / create / edit / delete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320040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32461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Bug Investigation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63931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DDEE"/>
                </a:solidFill>
              </a:rPr>
              <a:t>bug / error / not working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425196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0F766E">
              <a:alpha val="85000"/>
            </a:srgbClr>
          </a:solidFill>
          <a:ln w="12700">
            <a:solidFill>
              <a:srgbClr val="0F766E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42976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Navigator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69087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DDEE"/>
                </a:solidFill>
              </a:rPr>
              <a:t>where is / find / locate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63640" y="210312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21488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54203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DDEE"/>
                </a:solidFill>
              </a:rPr>
              <a:t>review / check diff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63640" y="320040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B45309">
              <a:alpha val="85000"/>
            </a:srgbClr>
          </a:solidFill>
          <a:ln w="12700">
            <a:solidFill>
              <a:srgbClr val="B45309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32461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Assistant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63931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DDEE"/>
                </a:solidFill>
              </a:rPr>
              <a:t>commit / push / PR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425196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42976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Architecture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469087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DDEE"/>
                </a:solidFill>
              </a:rPr>
              <a:t>diagram / structure / view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29000" y="448056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429000" y="45262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Documentation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9000" y="491947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DDEE"/>
                </a:solidFill>
              </a:rPr>
              <a:t>README / docs / explain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29000" y="338328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6B7280">
              <a:alpha val="85000"/>
            </a:srgbClr>
          </a:solidFill>
          <a:ln w="12700">
            <a:solidFill>
              <a:srgbClr val="6B7280"/>
            </a:solidFill>
            <a:prstDash val="solid"/>
          </a:ln>
          <a:effectLst>
            <a:outerShdw blurRad="635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429000" y="34290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General RAG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29000" y="382219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DDEE"/>
                </a:solidFill>
              </a:rPr>
              <a:t>semantic Q&amp;A fallback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20440" y="2057400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162235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2057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DE80"/>
                </a:solidFill>
              </a:rPr>
              <a:t>Agent Response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4ADE80"/>
                </a:solidFill>
              </a:rPr>
              <a:t>→ User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End-to-End System Flow: Safe Code Editing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2743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4F8EF7">
              <a:alpha val="90000"/>
            </a:srgbClr>
          </a:solidFill>
          <a:ln w="19050">
            <a:solidFill>
              <a:srgbClr val="4F8EF7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Requests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Change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74520" y="1417320"/>
            <a:ext cx="457200" cy="0"/>
          </a:xfrm>
          <a:prstGeom prst="line">
            <a:avLst/>
          </a:prstGeom>
          <a:noFill/>
          <a:ln w="2540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2563EB">
              <a:alpha val="90000"/>
            </a:srgbClr>
          </a:solidFill>
          <a:ln w="19050">
            <a:solidFill>
              <a:srgbClr val="2563EB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0058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Planner 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Creates Plan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417320"/>
            <a:ext cx="4572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100584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B45309">
              <a:alpha val="90000"/>
            </a:srgbClr>
          </a:solidFill>
          <a:ln w="19050">
            <a:solidFill>
              <a:srgbClr val="B45309"/>
            </a:solidFill>
            <a:prstDash val="solid"/>
          </a:ln>
          <a:effectLst>
            <a:outerShdw blurRad="635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03320" y="10058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Reviews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914400"/>
            <a:ext cx="1280160" cy="1005840"/>
          </a:xfrm>
          <a:prstGeom prst="rect">
            <a:avLst/>
          </a:prstGeom>
          <a:solidFill>
            <a:srgbClr val="F7C86A">
              <a:alpha val="90000"/>
            </a:srgbClr>
          </a:solidFill>
          <a:ln w="19050">
            <a:solidFill>
              <a:srgbClr val="F7C8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9144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Approved?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1417320"/>
            <a:ext cx="36576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2344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</a:rPr>
              <a:t>Yes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100584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16A34A">
              <a:alpha val="90000"/>
            </a:srgbClr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0058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Editor Applies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Changes Locally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920240"/>
            <a:ext cx="0" cy="411480"/>
          </a:xfrm>
          <a:prstGeom prst="line">
            <a:avLst/>
          </a:prstGeom>
          <a:noFill/>
          <a:ln w="25400">
            <a:solidFill>
              <a:srgbClr val="F070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331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7070"/>
                </a:solidFill>
              </a:rPr>
              <a:t>No → Rollback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40880" y="205740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2563EB">
              <a:alpha val="90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0574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Diff Preview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Shown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04304" y="2468880"/>
            <a:ext cx="35661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205740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7C3AED">
              <a:alpha val="9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20574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Review Agent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Suggests Tests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04104" y="2468880"/>
            <a:ext cx="356616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205740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B45309">
              <a:alpha val="90000"/>
            </a:srgbClr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20574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Commit Assistant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Generates Message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712464" y="2468880"/>
            <a:ext cx="356616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57400" y="205740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4F8EF7">
              <a:alpha val="90000"/>
            </a:srgbClr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20574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 Approves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Commit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020824" y="2468880"/>
            <a:ext cx="356616" cy="0"/>
          </a:xfrm>
          <a:prstGeom prst="line">
            <a:avLst/>
          </a:prstGeom>
          <a:noFill/>
          <a:ln w="2540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05740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16A34A">
              <a:alpha val="90000"/>
            </a:srgbClr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0574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Git Push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to Remote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49640" y="1828800"/>
            <a:ext cx="0" cy="22860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127248"/>
            <a:ext cx="8503920" cy="868680"/>
          </a:xfrm>
          <a:prstGeom prst="roundRect">
            <a:avLst>
              <a:gd name="adj" fmla="val 12632"/>
            </a:avLst>
          </a:prstGeom>
          <a:solidFill>
            <a:srgbClr val="0F1628"/>
          </a:solidFill>
          <a:ln w="12700">
            <a:solidFill>
              <a:srgbClr val="0F1628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91840"/>
            <a:ext cx="365760" cy="36576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960120" y="32461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D5C0"/>
                </a:solidFill>
              </a:rPr>
              <a:t>Safety Guarantee: No file is ever modified without explicit user approval. Rollback is available at every stage.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320040" y="4114800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162235"/>
          </a:solidFill>
          <a:ln w="12700">
            <a:solidFill>
              <a:srgbClr val="162235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50292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BDD6"/>
                </a:solidFill>
              </a:rPr>
              <a:t>Test Suite: 34 tests passed in 5.92s  ·  Modules: test_auth · test_commit_push_auth · test_file_intent_parser · test_project_access · test_project_status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 – Chat Example 1: Code Modification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2743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8503920" cy="502920"/>
          </a:xfrm>
          <a:prstGeom prst="roundRect">
            <a:avLst>
              <a:gd name="adj" fmla="val 21818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4F8EF7">
              <a:alpha val="9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User: "Please add a PORT configuration parameter to our config.py."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1591056"/>
            <a:ext cx="475488" cy="475488"/>
          </a:xfrm>
          <a:prstGeom prst="ellipse">
            <a:avLst/>
          </a:prstGeom>
          <a:solidFill>
            <a:srgbClr val="4F8EF7">
              <a:alpha val="9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91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5910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8EF7"/>
                </a:solidFill>
              </a:rPr>
              <a:t>Routing: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184708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6080"/>
                </a:solidFill>
              </a:rPr>
              <a:t>Detects add + config.py → routes to Planner Agent via route_chat_agent()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" y="2295144"/>
            <a:ext cx="475488" cy="475488"/>
          </a:xfrm>
          <a:prstGeom prst="ellipse">
            <a:avLst/>
          </a:prstGeom>
          <a:solidFill>
            <a:srgbClr val="6DD5C0">
              <a:alpha val="90000"/>
            </a:srgbClr>
          </a:solidFill>
          <a:ln w="12700">
            <a:solidFill>
              <a:srgbClr val="6DD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2951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2951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D5C0"/>
                </a:solidFill>
              </a:rPr>
              <a:t>RAG Retrieval: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840" y="255117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6080"/>
                </a:solidFill>
              </a:rPr>
              <a:t>search_chunks() → ChromaDB returns backend/app/core/config.py content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944368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" y="2999232"/>
            <a:ext cx="475488" cy="475488"/>
          </a:xfrm>
          <a:prstGeom prst="ellipse">
            <a:avLst/>
          </a:prstGeom>
          <a:solidFill>
            <a:srgbClr val="A78BFA">
              <a:alpha val="9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999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29992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</a:rPr>
              <a:t>Change Plan: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05840" y="325526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6080"/>
                </a:solidFill>
              </a:rPr>
              <a:t>{ "action": "edit", "path": "backend/app/core/config.py", "description": "Add PORT variable with default value 8000" }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648456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" y="3703320"/>
            <a:ext cx="475488" cy="475488"/>
          </a:xfrm>
          <a:prstGeom prst="ellipse">
            <a:avLst/>
          </a:prstGeom>
          <a:solidFill>
            <a:srgbClr val="F7C86A">
              <a:alpha val="90000"/>
            </a:srgbClr>
          </a:solidFill>
          <a:ln w="12700">
            <a:solidFill>
              <a:srgbClr val="F7C8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7033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3703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C86A"/>
                </a:solidFill>
              </a:rPr>
              <a:t>Apply &amp; Diff: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05840" y="395935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6080"/>
                </a:solidFill>
              </a:rPr>
              <a:t>User clicks Approve → port: int = 8000 inserted → side-by-side diff preview shown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4352544"/>
            <a:ext cx="8503920" cy="621792"/>
          </a:xfrm>
          <a:prstGeom prst="roundRect">
            <a:avLst>
              <a:gd name="adj" fmla="val 1764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8912" y="4407408"/>
            <a:ext cx="475488" cy="475488"/>
          </a:xfrm>
          <a:prstGeom prst="ellipse">
            <a:avLst/>
          </a:prstGeom>
          <a:solidFill>
            <a:srgbClr val="16A34A">
              <a:alpha val="9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4074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44074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</a:rPr>
              <a:t>Git Commit: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05840" y="466344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6080"/>
                </a:solidFill>
              </a:rPr>
              <a:t>git commit -am "feat: add port configuration to application settings"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 – Chat Example 3: Code 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2743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8503920" cy="502920"/>
          </a:xfrm>
          <a:prstGeom prst="roundRect">
            <a:avLst>
              <a:gd name="adj" fmla="val 2181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User: "Please review my changes before I commit."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22860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819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Intent Detection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293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40"/>
                </a:solidFill>
              </a:rPr>
              <a:t>review keyword detected → Review Agent selected, workspace switches to Review Mode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50876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508760"/>
            <a:ext cx="228600" cy="10515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5819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</a:rPr>
              <a:t>Diff Extraction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9293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40"/>
                </a:solidFill>
              </a:rPr>
              <a:t>repo.git.diff() for tracked changes + unified diff against /dev/null for untracked src/helper.js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65176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651760"/>
            <a:ext cx="228600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249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Static Findings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0723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40"/>
                </a:solidFill>
              </a:rPr>
              <a:t>Finding 1: leftover console.log(response) detected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D40"/>
                </a:solidFill>
              </a:rPr>
              <a:t>Finding 2: Empty try-catch block identified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65176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651760"/>
            <a:ext cx="228600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7249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Test Commands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0723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40"/>
                </a:solidFill>
              </a:rPr>
              <a:t>package.json parsed → suggests: npm test  ·  npm run lint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79476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794760"/>
            <a:ext cx="228600" cy="1051560"/>
          </a:xfrm>
          <a:prstGeom prst="rect">
            <a:avLst/>
          </a:prstGeom>
          <a:solidFill>
            <a:srgbClr val="6DD5C0"/>
          </a:solidFill>
          <a:ln w="12700">
            <a:solidFill>
              <a:srgbClr val="6DD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679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D5C0"/>
                </a:solidFill>
              </a:rPr>
              <a:t>LLM Analysis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2153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40"/>
                </a:solidFill>
              </a:rPr>
              <a:t>Full diff sent to LLM for high-level logic review → merged with static findings → Review Report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79476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794760"/>
            <a:ext cx="228600" cy="10515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8679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</a:rPr>
              <a:t>Final Report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42153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40"/>
                </a:solidFill>
              </a:rPr>
              <a:t>Sections: Review Findings · Tests To Add · Suggested Commands · Residual Risks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 – Chat Example 4: Architecture Visualization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2743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8503920" cy="502920"/>
          </a:xfrm>
          <a:prstGeom prst="roundRect">
            <a:avLst>
              <a:gd name="adj" fmla="val 2181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User: "Show me the project database diagram map."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3291840" cy="3337560"/>
          </a:xfrm>
          <a:prstGeom prst="roundRect">
            <a:avLst>
              <a:gd name="adj" fmla="val 3333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727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System Response: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1. Detected: diagram + map + show keywords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2. Exclusion check passed (no edit terms)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3. LLM bypassed — static response returned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3697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4. suggested_workspace_mode → 'architecture'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393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5. Frontend auto-switches workspace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0416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6. Interactive node-based repo map opens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44398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</a:rPr>
              <a:t>7. Layers: Overview · Frontend · Backend ·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1508760"/>
            <a:ext cx="5074920" cy="3337560"/>
          </a:xfrm>
          <a:prstGeom prst="roundRect">
            <a:avLst>
              <a:gd name="adj" fmla="val 3288"/>
            </a:avLst>
          </a:prstGeom>
          <a:solidFill>
            <a:srgbClr val="0F1628"/>
          </a:solidFill>
          <a:ln w="12700">
            <a:solidFill>
              <a:srgbClr val="0F1628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0" y="1581912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91B2"/>
                </a:solidFill>
              </a:rPr>
              <a:t>Live Architecture Map – RepoMind AI UI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023360" y="2011680"/>
            <a:ext cx="1005840" cy="1051560"/>
          </a:xfrm>
          <a:prstGeom prst="roundRect">
            <a:avLst>
              <a:gd name="adj" fmla="val 7273"/>
            </a:avLst>
          </a:prstGeom>
          <a:solidFill>
            <a:srgbClr val="4F8EF7">
              <a:alpha val="80000"/>
            </a:srgbClr>
          </a:solidFill>
          <a:ln w="19050">
            <a:solidFill>
              <a:srgbClr val="4F8EF7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23360" y="21031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Workspace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26280" y="2029968"/>
            <a:ext cx="457200" cy="182880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029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UX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166360" y="2011680"/>
            <a:ext cx="1005840" cy="1051560"/>
          </a:xfrm>
          <a:prstGeom prst="roundRect">
            <a:avLst>
              <a:gd name="adj" fmla="val 7273"/>
            </a:avLst>
          </a:prstGeom>
          <a:solidFill>
            <a:srgbClr val="4F8EF7">
              <a:alpha val="80000"/>
            </a:srgbClr>
          </a:solidFill>
          <a:ln w="19050">
            <a:solidFill>
              <a:srgbClr val="4F8EF7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66360" y="21031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Workspace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2029968"/>
            <a:ext cx="457200" cy="182880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2029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UX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309360" y="2011680"/>
            <a:ext cx="1005840" cy="1051560"/>
          </a:xfrm>
          <a:prstGeom prst="roundRect">
            <a:avLst>
              <a:gd name="adj" fmla="val 7273"/>
            </a:avLst>
          </a:prstGeom>
          <a:solidFill>
            <a:srgbClr val="2563EB">
              <a:alpha val="80000"/>
            </a:srgbClr>
          </a:solidFill>
          <a:ln w="19050">
            <a:solidFill>
              <a:srgbClr val="2563EB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09360" y="21031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Client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API Layer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12280" y="2029968"/>
            <a:ext cx="457200" cy="18288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2029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UI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452360" y="2011680"/>
            <a:ext cx="1005840" cy="1051560"/>
          </a:xfrm>
          <a:prstGeom prst="roundRect">
            <a:avLst>
              <a:gd name="adj" fmla="val 7273"/>
            </a:avLst>
          </a:prstGeom>
          <a:solidFill>
            <a:srgbClr val="0891B2">
              <a:alpha val="80000"/>
            </a:srgbClr>
          </a:solidFill>
          <a:ln w="19050">
            <a:solidFill>
              <a:srgbClr val="0891B2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52360" y="21031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FastAPI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Routes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955280" y="2029968"/>
            <a:ext cx="457200" cy="18288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2029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API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023360" y="3337560"/>
            <a:ext cx="1005840" cy="1051560"/>
          </a:xfrm>
          <a:prstGeom prst="roundRect">
            <a:avLst>
              <a:gd name="adj" fmla="val 7273"/>
            </a:avLst>
          </a:prstGeom>
          <a:solidFill>
            <a:srgbClr val="16A34A">
              <a:alpha val="80000"/>
            </a:srgbClr>
          </a:solidFill>
          <a:ln w="19050">
            <a:solidFill>
              <a:srgbClr val="16A34A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023360" y="34290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Shell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OPS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26280" y="3355848"/>
            <a:ext cx="457200" cy="18288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0" y="33558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OPS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166360" y="3337560"/>
            <a:ext cx="1005840" cy="1051560"/>
          </a:xfrm>
          <a:prstGeom prst="roundRect">
            <a:avLst>
              <a:gd name="adj" fmla="val 7273"/>
            </a:avLst>
          </a:prstGeom>
          <a:solidFill>
            <a:srgbClr val="7C3AED">
              <a:alpha val="80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166360" y="34290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Persistence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69280" y="3355848"/>
            <a:ext cx="457200" cy="18288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33558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DATA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309360" y="3337560"/>
            <a:ext cx="1005840" cy="1051560"/>
          </a:xfrm>
          <a:prstGeom prst="roundRect">
            <a:avLst>
              <a:gd name="adj" fmla="val 7273"/>
            </a:avLst>
          </a:prstGeom>
          <a:solidFill>
            <a:srgbClr val="DC2626">
              <a:alpha val="80000"/>
            </a:srgbClr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09360" y="34290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Repo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Intelligence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SVC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812280" y="3355848"/>
            <a:ext cx="457200" cy="18288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12280" y="33558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SVC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452360" y="3337560"/>
            <a:ext cx="1005840" cy="1051560"/>
          </a:xfrm>
          <a:prstGeom prst="roundRect">
            <a:avLst>
              <a:gd name="adj" fmla="val 7273"/>
            </a:avLst>
          </a:prstGeom>
          <a:solidFill>
            <a:srgbClr val="DC2626">
              <a:alpha val="80000"/>
            </a:srgbClr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452360" y="34290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Service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SVC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955280" y="3355848"/>
            <a:ext cx="457200" cy="18288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0" y="33558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SVC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526280" y="2679192"/>
            <a:ext cx="640080" cy="0"/>
          </a:xfrm>
          <a:prstGeom prst="line">
            <a:avLst/>
          </a:prstGeom>
          <a:noFill/>
          <a:ln w="12700">
            <a:solidFill>
              <a:srgbClr val="4F8EF7"/>
            </a:solidFill>
            <a:prstDash val="dashDot"/>
          </a:ln>
        </p:spPr>
      </p:sp>
      <p:sp>
        <p:nvSpPr>
          <p:cNvPr id="51" name="Shape 49"/>
          <p:cNvSpPr/>
          <p:nvPr/>
        </p:nvSpPr>
        <p:spPr>
          <a:xfrm>
            <a:off x="5669280" y="2679192"/>
            <a:ext cx="640080" cy="0"/>
          </a:xfrm>
          <a:prstGeom prst="line">
            <a:avLst/>
          </a:prstGeom>
          <a:noFill/>
          <a:ln w="12700">
            <a:solidFill>
              <a:srgbClr val="4F8EF7"/>
            </a:solidFill>
            <a:prstDash val="dashDot"/>
          </a:ln>
        </p:spPr>
      </p:sp>
      <p:sp>
        <p:nvSpPr>
          <p:cNvPr id="52" name="Shape 50"/>
          <p:cNvSpPr/>
          <p:nvPr/>
        </p:nvSpPr>
        <p:spPr>
          <a:xfrm>
            <a:off x="6812280" y="2679192"/>
            <a:ext cx="640080" cy="0"/>
          </a:xfrm>
          <a:prstGeom prst="line">
            <a:avLst/>
          </a:prstGeom>
          <a:noFill/>
          <a:ln w="12700">
            <a:solidFill>
              <a:srgbClr val="4F8EF7"/>
            </a:solidFill>
            <a:prstDash val="dashDot"/>
          </a:ln>
        </p:spPr>
      </p:sp>
      <p:sp>
        <p:nvSpPr>
          <p:cNvPr id="53" name="Shape 51"/>
          <p:cNvSpPr/>
          <p:nvPr/>
        </p:nvSpPr>
        <p:spPr>
          <a:xfrm>
            <a:off x="4526280" y="3337560"/>
            <a:ext cx="640080" cy="0"/>
          </a:xfrm>
          <a:prstGeom prst="line">
            <a:avLst/>
          </a:prstGeom>
          <a:noFill/>
          <a:ln w="12700">
            <a:solidFill>
              <a:srgbClr val="4F8EF7"/>
            </a:solidFill>
            <a:prstDash val="dashDot"/>
          </a:ln>
        </p:spPr>
      </p:sp>
      <p:sp>
        <p:nvSpPr>
          <p:cNvPr id="54" name="Shape 52"/>
          <p:cNvSpPr/>
          <p:nvPr/>
        </p:nvSpPr>
        <p:spPr>
          <a:xfrm>
            <a:off x="5669280" y="3337560"/>
            <a:ext cx="640080" cy="0"/>
          </a:xfrm>
          <a:prstGeom prst="line">
            <a:avLst/>
          </a:prstGeom>
          <a:noFill/>
          <a:ln w="12700">
            <a:solidFill>
              <a:srgbClr val="4F8EF7"/>
            </a:solidFill>
            <a:prstDash val="dashDot"/>
          </a:ln>
        </p:spPr>
      </p:sp>
      <p:sp>
        <p:nvSpPr>
          <p:cNvPr id="55" name="Shape 53"/>
          <p:cNvSpPr/>
          <p:nvPr/>
        </p:nvSpPr>
        <p:spPr>
          <a:xfrm>
            <a:off x="6812280" y="3337560"/>
            <a:ext cx="640080" cy="0"/>
          </a:xfrm>
          <a:prstGeom prst="line">
            <a:avLst/>
          </a:prstGeom>
          <a:noFill/>
          <a:ln w="12700">
            <a:solidFill>
              <a:srgbClr val="4F8EF7"/>
            </a:solidFill>
            <a:prstDash val="dashDot"/>
          </a:ln>
        </p:spPr>
      </p:sp>
      <p:sp>
        <p:nvSpPr>
          <p:cNvPr id="56" name="Shape 54"/>
          <p:cNvSpPr/>
          <p:nvPr/>
        </p:nvSpPr>
        <p:spPr>
          <a:xfrm>
            <a:off x="4526280" y="3063240"/>
            <a:ext cx="0" cy="274320"/>
          </a:xfrm>
          <a:prstGeom prst="line">
            <a:avLst/>
          </a:prstGeom>
          <a:noFill/>
          <a:ln w="12700">
            <a:solidFill>
              <a:srgbClr val="4F8EF7"/>
            </a:solidFill>
            <a:prstDash val="dashDot"/>
          </a:ln>
        </p:spPr>
      </p:sp>
      <p:sp>
        <p:nvSpPr>
          <p:cNvPr id="57" name="Shape 55"/>
          <p:cNvSpPr/>
          <p:nvPr/>
        </p:nvSpPr>
        <p:spPr>
          <a:xfrm>
            <a:off x="7955280" y="2514600"/>
            <a:ext cx="0" cy="822960"/>
          </a:xfrm>
          <a:prstGeom prst="line">
            <a:avLst/>
          </a:prstGeom>
          <a:noFill/>
          <a:ln w="12700">
            <a:solidFill>
              <a:srgbClr val="4F8EF7"/>
            </a:solidFill>
            <a:prstDash val="dashDot"/>
          </a:ln>
        </p:spPr>
      </p:sp>
      <p:sp>
        <p:nvSpPr>
          <p:cNvPr id="58" name="Text 56"/>
          <p:cNvSpPr/>
          <p:nvPr/>
        </p:nvSpPr>
        <p:spPr>
          <a:xfrm>
            <a:off x="3749040" y="448056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8BDD6"/>
                </a:solidFill>
              </a:rPr>
              <a:t>Interactive Architecture Map (Dark Mode UI)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Limitations &amp; 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2743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114800" cy="3977640"/>
          </a:xfrm>
          <a:prstGeom prst="roundRect">
            <a:avLst>
              <a:gd name="adj" fmla="val 275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875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Current Limitations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813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2D40"/>
                </a:solidFill>
              </a:rPr>
              <a:t>Only works with imported repositories (no local folder analysis)</a:t>
            </a:r>
            <a:endParaRPr lang="en-US" sz="108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88366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18653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2D40"/>
                </a:solidFill>
              </a:rPr>
              <a:t>Re-indexing required after significant repository changes</a:t>
            </a:r>
            <a:endParaRPr lang="en-US" sz="108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286000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72" y="22677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2D40"/>
                </a:solidFill>
              </a:rPr>
              <a:t>Frontend &amp; live LLM integration tests not yet automated</a:t>
            </a:r>
            <a:endParaRPr lang="en-US" sz="108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688336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4672" y="26700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2D40"/>
                </a:solidFill>
              </a:rPr>
              <a:t>Performance may slow on very large repositories</a:t>
            </a:r>
            <a:endParaRPr lang="en-US" sz="108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090672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04672" y="30723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2D40"/>
                </a:solidFill>
              </a:rPr>
              <a:t>Quality depends on embedding model and LLM capability</a:t>
            </a:r>
            <a:endParaRPr lang="en-US" sz="108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493008"/>
            <a:ext cx="237744" cy="2377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04672" y="3474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2D40"/>
                </a:solidFill>
              </a:rPr>
              <a:t>Architecture analysis may need developer validation for complex repos</a:t>
            </a:r>
            <a:endParaRPr lang="en-US" sz="108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895344"/>
            <a:ext cx="237744" cy="23774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04672" y="38770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2D40"/>
                </a:solidFill>
              </a:rPr>
              <a:t>Varying support across programming languages and frameworks</a:t>
            </a:r>
            <a:endParaRPr lang="en-US" sz="1080" dirty="0"/>
          </a:p>
        </p:txBody>
      </p:sp>
      <p:sp>
        <p:nvSpPr>
          <p:cNvPr id="20" name="Shape 11"/>
          <p:cNvSpPr/>
          <p:nvPr/>
        </p:nvSpPr>
        <p:spPr>
          <a:xfrm>
            <a:off x="4709160" y="914400"/>
            <a:ext cx="4114800" cy="3977640"/>
          </a:xfrm>
          <a:prstGeom prst="roundRect">
            <a:avLst>
              <a:gd name="adj" fmla="val 275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2"/>
          <p:cNvSpPr/>
          <p:nvPr/>
        </p:nvSpPr>
        <p:spPr>
          <a:xfrm>
            <a:off x="4846320" y="9875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Future Scope</a:t>
            </a:r>
            <a:endParaRPr lang="en-US" sz="16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481328"/>
            <a:ext cx="237744" cy="23774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93792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2D40"/>
                </a:solidFill>
              </a:rPr>
              <a:t>Support for local project folders without import</a:t>
            </a:r>
            <a:endParaRPr lang="en-US" sz="108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883664"/>
            <a:ext cx="237744" cy="237744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193792" y="18653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2D40"/>
                </a:solidFill>
              </a:rPr>
              <a:t>Real-time repository monitoring &amp; auto re-indexing</a:t>
            </a:r>
            <a:endParaRPr lang="en-US" sz="108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286000"/>
            <a:ext cx="237744" cy="237744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193792" y="22677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2D40"/>
                </a:solidFill>
              </a:rPr>
              <a:t>IDE integration (VS Code, IntelliJ IDEA plugins)</a:t>
            </a:r>
            <a:endParaRPr lang="en-US" sz="108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688336"/>
            <a:ext cx="237744" cy="237744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193792" y="26700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2D40"/>
                </a:solidFill>
              </a:rPr>
              <a:t>Advanced agents: security analysis, refactoring, test generation</a:t>
            </a:r>
            <a:endParaRPr lang="en-US" sz="108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090672"/>
            <a:ext cx="237744" cy="237744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193792" y="30723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2D40"/>
                </a:solidFill>
              </a:rPr>
              <a:t>Multi-user collaboration &amp; role-based access control</a:t>
            </a:r>
            <a:endParaRPr lang="en-US" sz="108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493008"/>
            <a:ext cx="237744" cy="237744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5193792" y="3474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2D40"/>
                </a:solidFill>
              </a:rPr>
              <a:t>Cloud-based sync with GitHub, GitLab, Bitbucket</a:t>
            </a:r>
            <a:endParaRPr lang="en-US" sz="108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895344"/>
            <a:ext cx="237744" cy="237744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5193792" y="38770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2D40"/>
                </a:solidFill>
              </a:rPr>
              <a:t>Smarter RAG with advanced LLMs for larger codebases</a:t>
            </a:r>
            <a:endParaRPr lang="en-US" sz="10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8503920" cy="2926080"/>
          </a:xfrm>
          <a:prstGeom prst="roundRect">
            <a:avLst>
              <a:gd name="adj" fmla="val 3750"/>
            </a:avLst>
          </a:prstGeom>
          <a:solidFill>
            <a:srgbClr val="152040"/>
          </a:solidFill>
          <a:ln w="12700">
            <a:solidFill>
              <a:srgbClr val="15204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D5C0"/>
                </a:solidFill>
              </a:rPr>
              <a:t>Key References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D6"/>
                </a:solidFill>
              </a:rPr>
              <a:t>[1] Zhang et al. (2023) – RepoCoder: Repository-Level Code Completion. arXiv:2303.12570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D6"/>
                </a:solidFill>
              </a:rPr>
              <a:t>[2] Jimenez et al. (2023) – SWE-bench: Can LLMs Resolve Real-World GitHub Issues? arXiv:2310.06770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54533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D6"/>
                </a:solidFill>
              </a:rPr>
              <a:t>[5] Lewis et al. (2020) – Retrieval-Augmented Generation for Knowledge-Intensive NLP. NeurIPS 2020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88366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D6"/>
                </a:solidFill>
              </a:rPr>
              <a:t>[7] Dong et al. (2023) – AgentCoder: Multi-Agent Code Generation. arXiv:2312.13010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2219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D6"/>
                </a:solidFill>
              </a:rPr>
              <a:t>[8] Hong et al. (2023) – MetaGPT: Meta Programming for Multi-Agent Collaborative Framework. arXiv:2308.00352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DD6"/>
                </a:solidFill>
              </a:rPr>
              <a:t>[12] Rozière et al. (2023) – Code Llama: Open Foundation Models for Code. arXiv:2308.12950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0" y="3474720"/>
            <a:ext cx="3200400" cy="320040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00400"/>
            <a:ext cx="2926080" cy="2926080"/>
          </a:xfrm>
          <a:prstGeom prst="ellipse">
            <a:avLst/>
          </a:prstGeom>
          <a:solidFill>
            <a:srgbClr val="6DD5C0">
              <a:alpha val="12000"/>
            </a:srgbClr>
          </a:solidFill>
          <a:ln w="12700">
            <a:solidFill>
              <a:srgbClr val="6DD5C0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371600" y="43159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8BDD6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286000" y="4956048"/>
            <a:ext cx="4572000" cy="2743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50474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Anshuman Sarkar  |  Akash Chakraborty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394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8BDD6"/>
                </a:solidFill>
              </a:rPr>
              <a:t>Dept. of Computer Science  ·  Asutosh College  ·  University of Calcutta  ·  M.Sc. 2024–2026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2036</Words>
  <Application>Microsoft Office PowerPoint</Application>
  <PresentationFormat>On-screen Show (16:9)</PresentationFormat>
  <Paragraphs>415</Paragraphs>
  <Slides>21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RepoMind AI – Final Year Project</dc:title>
  <dc:subject>PptxGenJS Presentation</dc:subject>
  <dc:creator>Anshuman Sarkar &amp; Akash Chakraborty</dc:creator>
  <cp:lastModifiedBy>sayan</cp:lastModifiedBy>
  <cp:revision>12</cp:revision>
  <dcterms:created xsi:type="dcterms:W3CDTF">2026-06-14T15:48:10Z</dcterms:created>
  <dcterms:modified xsi:type="dcterms:W3CDTF">2026-06-15T02:28:57Z</dcterms:modified>
</cp:coreProperties>
</file>